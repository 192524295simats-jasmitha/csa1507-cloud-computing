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66" r:id="rId1"/>
  </p:sldMasterIdLst>
  <p:notesMasterIdLst>
    <p:notesMasterId r:id="rId12"/>
  </p:notesMasterIdLst>
  <p:sldIdLst>
    <p:sldId id="270" r:id="rId2"/>
    <p:sldId id="271" r:id="rId3"/>
    <p:sldId id="272" r:id="rId4"/>
    <p:sldId id="274" r:id="rId5"/>
    <p:sldId id="278" r:id="rId6"/>
    <p:sldId id="277" r:id="rId7"/>
    <p:sldId id="284" r:id="rId8"/>
    <p:sldId id="286" r:id="rId9"/>
    <p:sldId id="287" r:id="rId10"/>
    <p:sldId id="28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E9D8F7-7AA1-43E2-A65F-C0070C502E50}" v="1" dt="2026-07-23T03:36:42.9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smitha R" userId="3bc0c9880e3b8aef" providerId="LiveId" clId="{7C7B357C-CB55-4996-A036-2C21E9FFBC03}"/>
    <pc:docChg chg="modSld">
      <pc:chgData name="jasmitha R" userId="3bc0c9880e3b8aef" providerId="LiveId" clId="{7C7B357C-CB55-4996-A036-2C21E9FFBC03}" dt="2026-07-23T03:37:22.605" v="24" actId="1035"/>
      <pc:docMkLst>
        <pc:docMk/>
      </pc:docMkLst>
      <pc:sldChg chg="modSp mod">
        <pc:chgData name="jasmitha R" userId="3bc0c9880e3b8aef" providerId="LiveId" clId="{7C7B357C-CB55-4996-A036-2C21E9FFBC03}" dt="2026-07-23T03:35:50.843" v="19" actId="20577"/>
        <pc:sldMkLst>
          <pc:docMk/>
          <pc:sldMk cId="2481131086" sldId="270"/>
        </pc:sldMkLst>
        <pc:spChg chg="mod">
          <ac:chgData name="jasmitha R" userId="3bc0c9880e3b8aef" providerId="LiveId" clId="{7C7B357C-CB55-4996-A036-2C21E9FFBC03}" dt="2026-07-23T03:35:50.843" v="19" actId="20577"/>
          <ac:spMkLst>
            <pc:docMk/>
            <pc:sldMk cId="2481131086" sldId="270"/>
            <ac:spMk id="6" creationId="{976DB684-3333-4F62-F125-8C01081E7D5E}"/>
          </ac:spMkLst>
        </pc:spChg>
      </pc:sldChg>
      <pc:sldChg chg="modSp mod">
        <pc:chgData name="jasmitha R" userId="3bc0c9880e3b8aef" providerId="LiveId" clId="{7C7B357C-CB55-4996-A036-2C21E9FFBC03}" dt="2026-07-23T03:35:06.095" v="2" actId="123"/>
        <pc:sldMkLst>
          <pc:docMk/>
          <pc:sldMk cId="1938383871" sldId="277"/>
        </pc:sldMkLst>
        <pc:spChg chg="mod">
          <ac:chgData name="jasmitha R" userId="3bc0c9880e3b8aef" providerId="LiveId" clId="{7C7B357C-CB55-4996-A036-2C21E9FFBC03}" dt="2026-07-23T03:35:06.095" v="2" actId="123"/>
          <ac:spMkLst>
            <pc:docMk/>
            <pc:sldMk cId="1938383871" sldId="277"/>
            <ac:spMk id="6" creationId="{608AF3B1-678E-AB0B-C96E-4A73A006BB0D}"/>
          </ac:spMkLst>
        </pc:spChg>
      </pc:sldChg>
      <pc:sldChg chg="modSp mod">
        <pc:chgData name="jasmitha R" userId="3bc0c9880e3b8aef" providerId="LiveId" clId="{7C7B357C-CB55-4996-A036-2C21E9FFBC03}" dt="2026-07-23T03:37:22.605" v="24" actId="1035"/>
        <pc:sldMkLst>
          <pc:docMk/>
          <pc:sldMk cId="3381871733" sldId="278"/>
        </pc:sldMkLst>
        <pc:spChg chg="mod">
          <ac:chgData name="jasmitha R" userId="3bc0c9880e3b8aef" providerId="LiveId" clId="{7C7B357C-CB55-4996-A036-2C21E9FFBC03}" dt="2026-07-23T03:37:22.605" v="24" actId="1035"/>
          <ac:spMkLst>
            <pc:docMk/>
            <pc:sldMk cId="3381871733" sldId="278"/>
            <ac:spMk id="6" creationId="{63B848A9-711C-912F-2E11-65CC455A02B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0CD7C6-F86A-47A4-AA6D-797B0C69411B}" type="datetimeFigureOut">
              <a:rPr lang="en-SG" smtClean="0"/>
              <a:t>23/7/2026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3913F1-BCDB-4C93-A386-669B96426D69}" type="slidenum">
              <a:rPr lang="en-SG" smtClean="0"/>
              <a:t>‹#›</a:t>
            </a:fld>
            <a:endParaRPr lang="en-SG"/>
          </a:p>
        </p:txBody>
      </p:sp>
    </p:spTree>
    <p:extLst>
      <p:ext uri="{BB962C8B-B14F-4D97-AF65-F5344CB8AC3E}">
        <p14:creationId xmlns:p14="http://schemas.microsoft.com/office/powerpoint/2010/main" val="1837849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743913F1-BCDB-4C93-A386-669B96426D69}" type="slidenum">
              <a:rPr lang="en-SG" smtClean="0"/>
              <a:t>1</a:t>
            </a:fld>
            <a:endParaRPr lang="en-SG"/>
          </a:p>
        </p:txBody>
      </p:sp>
    </p:spTree>
    <p:extLst>
      <p:ext uri="{BB962C8B-B14F-4D97-AF65-F5344CB8AC3E}">
        <p14:creationId xmlns:p14="http://schemas.microsoft.com/office/powerpoint/2010/main" val="8161538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D9BE3-4531-5AD4-7649-CC15B1D420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30667CFA-D7E4-A50A-74B7-649F8CDB66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BDB9FF01-EBC8-BE6A-F32B-C294928D6CF1}"/>
              </a:ext>
            </a:extLst>
          </p:cNvPr>
          <p:cNvSpPr>
            <a:spLocks noGrp="1"/>
          </p:cNvSpPr>
          <p:nvPr>
            <p:ph type="dt" sz="half" idx="10"/>
          </p:nvPr>
        </p:nvSpPr>
        <p:spPr/>
        <p:txBody>
          <a:bodyPr/>
          <a:lstStyle/>
          <a:p>
            <a:fld id="{87DE6118-2437-4B30-8E3C-4D2BE6020583}" type="datetimeFigureOut">
              <a:rPr lang="en-US" smtClean="0"/>
              <a:pPr/>
              <a:t>7/23/2026</a:t>
            </a:fld>
            <a:endParaRPr lang="en-US" dirty="0"/>
          </a:p>
        </p:txBody>
      </p:sp>
      <p:sp>
        <p:nvSpPr>
          <p:cNvPr id="5" name="Footer Placeholder 4">
            <a:extLst>
              <a:ext uri="{FF2B5EF4-FFF2-40B4-BE49-F238E27FC236}">
                <a16:creationId xmlns:a16="http://schemas.microsoft.com/office/drawing/2014/main" id="{F4265494-982A-3B6E-24F5-6DF482CFB2A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9376B2E-46AB-565E-96E0-7F66BFE6C15F}"/>
              </a:ext>
            </a:extLst>
          </p:cNvPr>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500642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11DE6-7CC7-80A1-3C1F-9D3B9E3F2D61}"/>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995425C7-AAE8-93CA-8742-32B8109E063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5103FCC-6BD4-BC5C-3FB1-D227099E58A0}"/>
              </a:ext>
            </a:extLst>
          </p:cNvPr>
          <p:cNvSpPr>
            <a:spLocks noGrp="1"/>
          </p:cNvSpPr>
          <p:nvPr>
            <p:ph type="dt" sz="half" idx="10"/>
          </p:nvPr>
        </p:nvSpPr>
        <p:spPr/>
        <p:txBody>
          <a:bodyPr/>
          <a:lstStyle/>
          <a:p>
            <a:fld id="{87DE6118-2437-4B30-8E3C-4D2BE6020583}" type="datetimeFigureOut">
              <a:rPr lang="en-US" smtClean="0"/>
              <a:t>7/23/2026</a:t>
            </a:fld>
            <a:endParaRPr lang="en-US" dirty="0"/>
          </a:p>
        </p:txBody>
      </p:sp>
      <p:sp>
        <p:nvSpPr>
          <p:cNvPr id="5" name="Footer Placeholder 4">
            <a:extLst>
              <a:ext uri="{FF2B5EF4-FFF2-40B4-BE49-F238E27FC236}">
                <a16:creationId xmlns:a16="http://schemas.microsoft.com/office/drawing/2014/main" id="{8FE15180-A720-7A2E-0E96-6E028065DB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9094F0D-1795-F514-F4D6-56FA8D0D8264}"/>
              </a:ext>
            </a:extLst>
          </p:cNvPr>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3612718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573DD-3420-6678-07E1-8FCB317397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AD0A7DA3-4E98-157E-E951-BB0DD480624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5D0C53-9801-EFD5-C7AD-F53FBB0FC610}"/>
              </a:ext>
            </a:extLst>
          </p:cNvPr>
          <p:cNvSpPr>
            <a:spLocks noGrp="1"/>
          </p:cNvSpPr>
          <p:nvPr>
            <p:ph type="dt" sz="half" idx="10"/>
          </p:nvPr>
        </p:nvSpPr>
        <p:spPr/>
        <p:txBody>
          <a:bodyPr/>
          <a:lstStyle/>
          <a:p>
            <a:fld id="{87DE6118-2437-4B30-8E3C-4D2BE6020583}" type="datetimeFigureOut">
              <a:rPr lang="en-US" smtClean="0"/>
              <a:pPr/>
              <a:t>7/23/2026</a:t>
            </a:fld>
            <a:endParaRPr lang="en-US" dirty="0"/>
          </a:p>
        </p:txBody>
      </p:sp>
      <p:sp>
        <p:nvSpPr>
          <p:cNvPr id="5" name="Footer Placeholder 4">
            <a:extLst>
              <a:ext uri="{FF2B5EF4-FFF2-40B4-BE49-F238E27FC236}">
                <a16:creationId xmlns:a16="http://schemas.microsoft.com/office/drawing/2014/main" id="{DEF8EF46-69DB-A423-497E-917A9687B0B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66980C3-5D30-E5A0-66DA-BB57832BD752}"/>
              </a:ext>
            </a:extLst>
          </p:cNvPr>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976682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327DB-1ACB-B1CE-5DA1-880756B6AA76}"/>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CE828830-D575-5994-D555-ED8B8BFED0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B880B781-5554-18FE-3B35-5A24A400CEC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39C7FB19-61BB-47EB-A4DE-20B5314EC795}"/>
              </a:ext>
            </a:extLst>
          </p:cNvPr>
          <p:cNvSpPr>
            <a:spLocks noGrp="1"/>
          </p:cNvSpPr>
          <p:nvPr>
            <p:ph type="dt" sz="half" idx="10"/>
          </p:nvPr>
        </p:nvSpPr>
        <p:spPr/>
        <p:txBody>
          <a:bodyPr/>
          <a:lstStyle/>
          <a:p>
            <a:fld id="{87DE6118-2437-4B30-8E3C-4D2BE6020583}" type="datetimeFigureOut">
              <a:rPr lang="en-US" smtClean="0"/>
              <a:t>7/23/2026</a:t>
            </a:fld>
            <a:endParaRPr lang="en-US" dirty="0"/>
          </a:p>
        </p:txBody>
      </p:sp>
      <p:sp>
        <p:nvSpPr>
          <p:cNvPr id="6" name="Footer Placeholder 5">
            <a:extLst>
              <a:ext uri="{FF2B5EF4-FFF2-40B4-BE49-F238E27FC236}">
                <a16:creationId xmlns:a16="http://schemas.microsoft.com/office/drawing/2014/main" id="{84EE1B65-0337-D2E1-281B-D404D2783EA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0642435-2DC9-D19C-BE8F-A76249C61B0B}"/>
              </a:ext>
            </a:extLst>
          </p:cNvPr>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6579718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8BB3C-C5C0-6FEC-490D-53C138D34986}"/>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00A0D8E4-A210-2870-E0D8-CCBE14B209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DC3B9C-41F2-DC2D-1232-C1157EF1F7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52E20704-8CBB-5685-FC96-071656FB07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9D4E4C-8F00-6155-BC02-41B7B4D492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0545F155-134C-C1DE-393E-E1BF522A4C09}"/>
              </a:ext>
            </a:extLst>
          </p:cNvPr>
          <p:cNvSpPr>
            <a:spLocks noGrp="1"/>
          </p:cNvSpPr>
          <p:nvPr>
            <p:ph type="dt" sz="half" idx="10"/>
          </p:nvPr>
        </p:nvSpPr>
        <p:spPr/>
        <p:txBody>
          <a:bodyPr/>
          <a:lstStyle/>
          <a:p>
            <a:fld id="{87DE6118-2437-4B30-8E3C-4D2BE6020583}" type="datetimeFigureOut">
              <a:rPr lang="en-US" smtClean="0"/>
              <a:t>7/23/2026</a:t>
            </a:fld>
            <a:endParaRPr lang="en-US" dirty="0"/>
          </a:p>
        </p:txBody>
      </p:sp>
      <p:sp>
        <p:nvSpPr>
          <p:cNvPr id="8" name="Footer Placeholder 7">
            <a:extLst>
              <a:ext uri="{FF2B5EF4-FFF2-40B4-BE49-F238E27FC236}">
                <a16:creationId xmlns:a16="http://schemas.microsoft.com/office/drawing/2014/main" id="{498FEBD8-B42C-FBCC-628E-917E7AC488A5}"/>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8AF76DA4-4220-A088-430B-EB0264162DB2}"/>
              </a:ext>
            </a:extLst>
          </p:cNvPr>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7383947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24B22-3BDD-DA15-A1DA-3D3D037728E6}"/>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5F30B750-9B1B-67D6-A1BD-544469B29EDE}"/>
              </a:ext>
            </a:extLst>
          </p:cNvPr>
          <p:cNvSpPr>
            <a:spLocks noGrp="1"/>
          </p:cNvSpPr>
          <p:nvPr>
            <p:ph type="dt" sz="half" idx="10"/>
          </p:nvPr>
        </p:nvSpPr>
        <p:spPr/>
        <p:txBody>
          <a:bodyPr/>
          <a:lstStyle/>
          <a:p>
            <a:fld id="{87DE6118-2437-4B30-8E3C-4D2BE6020583}" type="datetimeFigureOut">
              <a:rPr lang="en-US" smtClean="0"/>
              <a:t>7/23/2026</a:t>
            </a:fld>
            <a:endParaRPr lang="en-US" dirty="0"/>
          </a:p>
        </p:txBody>
      </p:sp>
      <p:sp>
        <p:nvSpPr>
          <p:cNvPr id="4" name="Footer Placeholder 3">
            <a:extLst>
              <a:ext uri="{FF2B5EF4-FFF2-40B4-BE49-F238E27FC236}">
                <a16:creationId xmlns:a16="http://schemas.microsoft.com/office/drawing/2014/main" id="{004BC29C-ED2A-0FAB-F502-4DF7FA47736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CBDE541-FBDA-89CB-96BA-891A347CD9F1}"/>
              </a:ext>
            </a:extLst>
          </p:cNvPr>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3500817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FF98FF-05BC-F1B9-1A39-B51D4C43AB06}"/>
              </a:ext>
            </a:extLst>
          </p:cNvPr>
          <p:cNvSpPr>
            <a:spLocks noGrp="1"/>
          </p:cNvSpPr>
          <p:nvPr>
            <p:ph type="dt" sz="half" idx="10"/>
          </p:nvPr>
        </p:nvSpPr>
        <p:spPr/>
        <p:txBody>
          <a:bodyPr/>
          <a:lstStyle/>
          <a:p>
            <a:fld id="{87DE6118-2437-4B30-8E3C-4D2BE6020583}" type="datetimeFigureOut">
              <a:rPr lang="en-US" smtClean="0"/>
              <a:t>7/23/2026</a:t>
            </a:fld>
            <a:endParaRPr lang="en-US" dirty="0"/>
          </a:p>
        </p:txBody>
      </p:sp>
      <p:sp>
        <p:nvSpPr>
          <p:cNvPr id="3" name="Footer Placeholder 2">
            <a:extLst>
              <a:ext uri="{FF2B5EF4-FFF2-40B4-BE49-F238E27FC236}">
                <a16:creationId xmlns:a16="http://schemas.microsoft.com/office/drawing/2014/main" id="{8BE306A3-56A5-17F9-97F7-C5770E52E52D}"/>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8E33175A-D89E-719D-3799-50BC3E745680}"/>
              </a:ext>
            </a:extLst>
          </p:cNvPr>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933128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589AF-E21D-C115-92C0-1CE1151B5A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E699EFCD-E340-597D-6368-4E0C84A6D7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9467A096-3C6D-FC77-BC0A-FBAEC87509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DEC374-63EE-8893-B178-CDB04FEE9F23}"/>
              </a:ext>
            </a:extLst>
          </p:cNvPr>
          <p:cNvSpPr>
            <a:spLocks noGrp="1"/>
          </p:cNvSpPr>
          <p:nvPr>
            <p:ph type="dt" sz="half" idx="10"/>
          </p:nvPr>
        </p:nvSpPr>
        <p:spPr/>
        <p:txBody>
          <a:bodyPr/>
          <a:lstStyle/>
          <a:p>
            <a:fld id="{87DE6118-2437-4B30-8E3C-4D2BE6020583}" type="datetimeFigureOut">
              <a:rPr lang="en-US" smtClean="0"/>
              <a:pPr/>
              <a:t>7/23/2026</a:t>
            </a:fld>
            <a:endParaRPr lang="en-US" dirty="0"/>
          </a:p>
        </p:txBody>
      </p:sp>
      <p:sp>
        <p:nvSpPr>
          <p:cNvPr id="6" name="Footer Placeholder 5">
            <a:extLst>
              <a:ext uri="{FF2B5EF4-FFF2-40B4-BE49-F238E27FC236}">
                <a16:creationId xmlns:a16="http://schemas.microsoft.com/office/drawing/2014/main" id="{E332BE3A-1A5B-E13A-2DCA-7A19283CEE3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A63293-B5CC-6A73-DF88-3C37BF5E5734}"/>
              </a:ext>
            </a:extLst>
          </p:cNvPr>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478009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AB5D8-CC22-FD7C-4DDA-B4C3E77AA8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B6CE8EF0-872F-F885-2647-E24178B8CE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899C82EC-6FAB-50ED-CA3D-FF5CBBC7BE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F59D12-B2D6-6035-C09C-E65AF6891A20}"/>
              </a:ext>
            </a:extLst>
          </p:cNvPr>
          <p:cNvSpPr>
            <a:spLocks noGrp="1"/>
          </p:cNvSpPr>
          <p:nvPr>
            <p:ph type="dt" sz="half" idx="10"/>
          </p:nvPr>
        </p:nvSpPr>
        <p:spPr/>
        <p:txBody>
          <a:bodyPr/>
          <a:lstStyle/>
          <a:p>
            <a:fld id="{87DE6118-2437-4B30-8E3C-4D2BE6020583}" type="datetimeFigureOut">
              <a:rPr lang="en-US" smtClean="0"/>
              <a:pPr/>
              <a:t>7/23/2026</a:t>
            </a:fld>
            <a:endParaRPr lang="en-US" dirty="0"/>
          </a:p>
        </p:txBody>
      </p:sp>
      <p:sp>
        <p:nvSpPr>
          <p:cNvPr id="6" name="Footer Placeholder 5">
            <a:extLst>
              <a:ext uri="{FF2B5EF4-FFF2-40B4-BE49-F238E27FC236}">
                <a16:creationId xmlns:a16="http://schemas.microsoft.com/office/drawing/2014/main" id="{4027EC91-03AE-7F74-8BD1-D53ECB5D2B5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9A50754-A00E-6584-4FAC-AEFB4F3AFFB2}"/>
              </a:ext>
            </a:extLst>
          </p:cNvPr>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494331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CA0C3-E9D9-C209-D9D9-237C60F1D71B}"/>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E0343FB6-7E58-5827-0F61-7D82D477433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F30165C1-CF28-55B6-EBE1-BD520C5EE987}"/>
              </a:ext>
            </a:extLst>
          </p:cNvPr>
          <p:cNvSpPr>
            <a:spLocks noGrp="1"/>
          </p:cNvSpPr>
          <p:nvPr>
            <p:ph type="dt" sz="half" idx="10"/>
          </p:nvPr>
        </p:nvSpPr>
        <p:spPr/>
        <p:txBody>
          <a:bodyPr/>
          <a:lstStyle/>
          <a:p>
            <a:fld id="{87DE6118-2437-4B30-8E3C-4D2BE6020583}" type="datetimeFigureOut">
              <a:rPr lang="en-US" smtClean="0"/>
              <a:t>7/23/2026</a:t>
            </a:fld>
            <a:endParaRPr lang="en-US" dirty="0"/>
          </a:p>
        </p:txBody>
      </p:sp>
      <p:sp>
        <p:nvSpPr>
          <p:cNvPr id="5" name="Footer Placeholder 4">
            <a:extLst>
              <a:ext uri="{FF2B5EF4-FFF2-40B4-BE49-F238E27FC236}">
                <a16:creationId xmlns:a16="http://schemas.microsoft.com/office/drawing/2014/main" id="{341D0ADD-3B74-93E1-A73C-2695102E1A0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A2A29B8-E6C2-A980-A2FA-F9EF861EFE44}"/>
              </a:ext>
            </a:extLst>
          </p:cNvPr>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859312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AD3A21-BAAF-9066-2403-5ECF51E5CA7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96D4C30F-0876-EE1E-7389-EB574DA4298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A249F685-EA79-9E27-4621-0C23923564C8}"/>
              </a:ext>
            </a:extLst>
          </p:cNvPr>
          <p:cNvSpPr>
            <a:spLocks noGrp="1"/>
          </p:cNvSpPr>
          <p:nvPr>
            <p:ph type="dt" sz="half" idx="10"/>
          </p:nvPr>
        </p:nvSpPr>
        <p:spPr/>
        <p:txBody>
          <a:bodyPr/>
          <a:lstStyle/>
          <a:p>
            <a:fld id="{87DE6118-2437-4B30-8E3C-4D2BE6020583}" type="datetimeFigureOut">
              <a:rPr lang="en-US" smtClean="0"/>
              <a:t>7/23/2026</a:t>
            </a:fld>
            <a:endParaRPr lang="en-US" dirty="0"/>
          </a:p>
        </p:txBody>
      </p:sp>
      <p:sp>
        <p:nvSpPr>
          <p:cNvPr id="5" name="Footer Placeholder 4">
            <a:extLst>
              <a:ext uri="{FF2B5EF4-FFF2-40B4-BE49-F238E27FC236}">
                <a16:creationId xmlns:a16="http://schemas.microsoft.com/office/drawing/2014/main" id="{B9314E02-7DEB-2DE2-42DC-BC72DD9A36B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AF0D22E-494C-D04C-0629-7CCA42494C92}"/>
              </a:ext>
            </a:extLst>
          </p:cNvPr>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41357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841B27-5D53-7C71-EFFD-8D64786B73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14C5381B-6966-66C3-C742-7596C54941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0CCF0225-2167-C211-9CC5-C26BBD6D9E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DE6118-2437-4B30-8E3C-4D2BE6020583}" type="datetimeFigureOut">
              <a:rPr lang="en-US" smtClean="0"/>
              <a:pPr/>
              <a:t>7/23/2026</a:t>
            </a:fld>
            <a:endParaRPr lang="en-US" dirty="0"/>
          </a:p>
        </p:txBody>
      </p:sp>
      <p:sp>
        <p:nvSpPr>
          <p:cNvPr id="5" name="Footer Placeholder 4">
            <a:extLst>
              <a:ext uri="{FF2B5EF4-FFF2-40B4-BE49-F238E27FC236}">
                <a16:creationId xmlns:a16="http://schemas.microsoft.com/office/drawing/2014/main" id="{58541116-A31F-A8C3-3FA0-61CC04C0C2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12756C01-2514-F2A2-9A02-79ADC14CC7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655605274"/>
      </p:ext>
    </p:extLst>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C2E8AB3-7AA7-F7E4-CD93-0A916BB5AE2B}"/>
              </a:ext>
            </a:extLst>
          </p:cNvPr>
          <p:cNvSpPr>
            <a:spLocks noGrp="1"/>
          </p:cNvSpPr>
          <p:nvPr>
            <p:ph type="subTitle" idx="1"/>
          </p:nvPr>
        </p:nvSpPr>
        <p:spPr>
          <a:xfrm>
            <a:off x="843242" y="2689414"/>
            <a:ext cx="10058400" cy="1143000"/>
          </a:xfrm>
        </p:spPr>
        <p:txBody>
          <a:bodyPr/>
          <a:lstStyle/>
          <a:p>
            <a:pPr algn="ctr"/>
            <a:r>
              <a:rPr lang="en-GB" sz="2800" dirty="0">
                <a:solidFill>
                  <a:schemeClr val="tx1"/>
                </a:solidFill>
                <a:latin typeface="Times New Roman" panose="02020603050405020304" pitchFamily="18" charset="0"/>
                <a:cs typeface="Times New Roman" panose="02020603050405020304" pitchFamily="18" charset="0"/>
              </a:rPr>
              <a:t>CSA1507-Cloud Computing in big data analysis</a:t>
            </a:r>
            <a:r>
              <a:rPr lang="en-GB" dirty="0">
                <a:solidFill>
                  <a:schemeClr val="tx1"/>
                </a:solidFill>
                <a:latin typeface="Times New Roman" panose="02020603050405020304" pitchFamily="18" charset="0"/>
                <a:cs typeface="Times New Roman" panose="02020603050405020304" pitchFamily="18" charset="0"/>
              </a:rPr>
              <a:t> </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AFD393D-C7C3-CE81-0069-4494EE4C8F05}"/>
              </a:ext>
            </a:extLst>
          </p:cNvPr>
          <p:cNvSpPr txBox="1"/>
          <p:nvPr/>
        </p:nvSpPr>
        <p:spPr>
          <a:xfrm>
            <a:off x="9152445" y="4406613"/>
            <a:ext cx="1685077" cy="646331"/>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GUIDED BY,</a:t>
            </a:r>
          </a:p>
          <a:p>
            <a:r>
              <a:rPr lang="en-GB" dirty="0" err="1">
                <a:latin typeface="Times New Roman" panose="02020603050405020304" pitchFamily="18" charset="0"/>
                <a:cs typeface="Times New Roman" panose="02020603050405020304" pitchFamily="18" charset="0"/>
              </a:rPr>
              <a:t>DR.C.Anuradha</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76DB684-3333-4F62-F125-8C01081E7D5E}"/>
              </a:ext>
            </a:extLst>
          </p:cNvPr>
          <p:cNvSpPr txBox="1"/>
          <p:nvPr/>
        </p:nvSpPr>
        <p:spPr>
          <a:xfrm>
            <a:off x="288031" y="4406613"/>
            <a:ext cx="3234813" cy="923330"/>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PRESENTED BY</a:t>
            </a:r>
          </a:p>
          <a:p>
            <a:r>
              <a:rPr lang="en-IN" dirty="0">
                <a:latin typeface="Times New Roman" panose="02020603050405020304" pitchFamily="18" charset="0"/>
                <a:cs typeface="Times New Roman" panose="02020603050405020304" pitchFamily="18" charset="0"/>
              </a:rPr>
              <a:t>Jasmitha R(192524295)</a:t>
            </a:r>
          </a:p>
          <a:p>
            <a:r>
              <a:rPr lang="en-GB" dirty="0">
                <a:latin typeface="Times New Roman" panose="02020603050405020304" pitchFamily="18" charset="0"/>
                <a:cs typeface="Times New Roman" panose="02020603050405020304" pitchFamily="18" charset="0"/>
              </a:rPr>
              <a:t>J O Joanna Divine(192572003)</a:t>
            </a:r>
            <a:endParaRPr lang="en-IN" dirty="0">
              <a:latin typeface="Times New Roman" panose="02020603050405020304" pitchFamily="18" charset="0"/>
              <a:cs typeface="Times New Roman" panose="02020603050405020304" pitchFamily="18" charset="0"/>
            </a:endParaRPr>
          </a:p>
        </p:txBody>
      </p:sp>
      <p:pic>
        <p:nvPicPr>
          <p:cNvPr id="7" name="Image 1">
            <a:extLst>
              <a:ext uri="{FF2B5EF4-FFF2-40B4-BE49-F238E27FC236}">
                <a16:creationId xmlns:a16="http://schemas.microsoft.com/office/drawing/2014/main" id="{BD521E85-D12F-5874-C3FA-4E650C215D54}"/>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93172" y="158290"/>
            <a:ext cx="10618839" cy="1143000"/>
          </a:xfrm>
          <a:prstGeom prst="rect">
            <a:avLst/>
          </a:prstGeom>
        </p:spPr>
      </p:pic>
      <p:sp>
        <p:nvSpPr>
          <p:cNvPr id="5" name="Rectangle 4">
            <a:extLst>
              <a:ext uri="{FF2B5EF4-FFF2-40B4-BE49-F238E27FC236}">
                <a16:creationId xmlns:a16="http://schemas.microsoft.com/office/drawing/2014/main" id="{D842E3A2-8B27-9D13-E032-55C3CF1B705E}"/>
              </a:ext>
            </a:extLst>
          </p:cNvPr>
          <p:cNvSpPr/>
          <p:nvPr/>
        </p:nvSpPr>
        <p:spPr>
          <a:xfrm rot="5400000">
            <a:off x="5670753" y="336757"/>
            <a:ext cx="850492" cy="12192000"/>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SG"/>
          </a:p>
        </p:txBody>
      </p:sp>
      <p:sp>
        <p:nvSpPr>
          <p:cNvPr id="9" name="Title 8">
            <a:extLst>
              <a:ext uri="{FF2B5EF4-FFF2-40B4-BE49-F238E27FC236}">
                <a16:creationId xmlns:a16="http://schemas.microsoft.com/office/drawing/2014/main" id="{6DBCF768-9EF2-03E4-14CE-61D61FC7E93E}"/>
              </a:ext>
            </a:extLst>
          </p:cNvPr>
          <p:cNvSpPr>
            <a:spLocks noGrp="1"/>
          </p:cNvSpPr>
          <p:nvPr>
            <p:ph type="ctrTitle"/>
          </p:nvPr>
        </p:nvSpPr>
        <p:spPr>
          <a:xfrm>
            <a:off x="406401" y="1122364"/>
            <a:ext cx="11736438" cy="1507284"/>
          </a:xfrm>
        </p:spPr>
        <p:txBody>
          <a:bodyPr>
            <a:normAutofit/>
          </a:bodyPr>
          <a:lstStyle/>
          <a:p>
            <a:r>
              <a:rPr lang="en-US" sz="3200">
                <a:latin typeface="Times New Roman" panose="02020603050405020304" pitchFamily="18" charset="0"/>
                <a:cs typeface="Times New Roman" panose="02020603050405020304" pitchFamily="18" charset="0"/>
              </a:rPr>
              <a:t>Cloud migration strategies moving enterprise applications to the cloud</a:t>
            </a:r>
          </a:p>
        </p:txBody>
      </p:sp>
    </p:spTree>
    <p:extLst>
      <p:ext uri="{BB962C8B-B14F-4D97-AF65-F5344CB8AC3E}">
        <p14:creationId xmlns:p14="http://schemas.microsoft.com/office/powerpoint/2010/main" val="2481131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5BE0E-17C0-CF0D-D50A-CFE4FF55A330}"/>
              </a:ext>
            </a:extLst>
          </p:cNvPr>
          <p:cNvSpPr>
            <a:spLocks noGrp="1"/>
          </p:cNvSpPr>
          <p:nvPr>
            <p:ph type="title"/>
          </p:nvPr>
        </p:nvSpPr>
        <p:spPr>
          <a:xfrm>
            <a:off x="838200" y="681037"/>
            <a:ext cx="10515600" cy="1325563"/>
          </a:xfrm>
        </p:spPr>
        <p:txBody>
          <a:bodyPr/>
          <a:lstStyle/>
          <a:p>
            <a:r>
              <a:rPr lang="en-IN" b="1" dirty="0">
                <a:solidFill>
                  <a:schemeClr val="tx1"/>
                </a:solidFill>
                <a:latin typeface="Times New Roman" panose="02020603050405020304" pitchFamily="18" charset="0"/>
                <a:cs typeface="Times New Roman" panose="02020603050405020304" pitchFamily="18" charset="0"/>
              </a:rPr>
              <a:t>ABSTRACT</a:t>
            </a:r>
          </a:p>
        </p:txBody>
      </p:sp>
      <p:sp>
        <p:nvSpPr>
          <p:cNvPr id="3" name="Rectangle 2">
            <a:extLst>
              <a:ext uri="{FF2B5EF4-FFF2-40B4-BE49-F238E27FC236}">
                <a16:creationId xmlns:a16="http://schemas.microsoft.com/office/drawing/2014/main" id="{60F7215B-640A-0E39-2139-5A1A80C4E309}"/>
              </a:ext>
            </a:extLst>
          </p:cNvPr>
          <p:cNvSpPr/>
          <p:nvPr/>
        </p:nvSpPr>
        <p:spPr>
          <a:xfrm>
            <a:off x="0" y="0"/>
            <a:ext cx="727587" cy="6858000"/>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SG"/>
          </a:p>
        </p:txBody>
      </p:sp>
      <p:sp>
        <p:nvSpPr>
          <p:cNvPr id="7" name="Content Placeholder 6">
            <a:extLst>
              <a:ext uri="{FF2B5EF4-FFF2-40B4-BE49-F238E27FC236}">
                <a16:creationId xmlns:a16="http://schemas.microsoft.com/office/drawing/2014/main" id="{8DA93827-A091-D9B8-ABC0-1B734647A189}"/>
              </a:ext>
            </a:extLst>
          </p:cNvPr>
          <p:cNvSpPr>
            <a:spLocks noGrp="1"/>
          </p:cNvSpPr>
          <p:nvPr>
            <p:ph idx="1"/>
          </p:nvPr>
        </p:nvSpPr>
        <p:spPr/>
        <p:txBody>
          <a:bodyPr/>
          <a:lstStyle/>
          <a:p>
            <a:r>
              <a:rPr lang="en-GB" sz="3200" dirty="0">
                <a:latin typeface="Times New Roman" panose="02020603050405020304" pitchFamily="18" charset="0"/>
                <a:cs typeface="Times New Roman" panose="02020603050405020304" pitchFamily="18" charset="0"/>
              </a:rPr>
              <a:t>Cloud migration is the process of moving applications, data, and workloads to the cloud.
It improves scalability, flexibility, and cost efficiency.
Different migration strategies are used based on business requirements.
Proper planning ensures secure and successful migration</a:t>
            </a:r>
            <a:r>
              <a:rPr lang="en-GB" dirty="0"/>
              <a:t>.</a:t>
            </a:r>
            <a:endParaRPr lang="en-US" dirty="0"/>
          </a:p>
        </p:txBody>
      </p:sp>
    </p:spTree>
    <p:extLst>
      <p:ext uri="{BB962C8B-B14F-4D97-AF65-F5344CB8AC3E}">
        <p14:creationId xmlns:p14="http://schemas.microsoft.com/office/powerpoint/2010/main" val="4212136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98ACA-7737-F4F1-3C3A-168C1244BC67}"/>
              </a:ext>
            </a:extLst>
          </p:cNvPr>
          <p:cNvSpPr>
            <a:spLocks noGrp="1"/>
          </p:cNvSpPr>
          <p:nvPr>
            <p:ph type="title"/>
          </p:nvPr>
        </p:nvSpPr>
        <p:spPr>
          <a:xfrm>
            <a:off x="838200" y="699421"/>
            <a:ext cx="10515600" cy="1325563"/>
          </a:xfrm>
        </p:spPr>
        <p:txBody>
          <a:bodyPr/>
          <a:lstStyle/>
          <a:p>
            <a:r>
              <a:rPr lang="en-IN" b="1" dirty="0">
                <a:solidFill>
                  <a:schemeClr val="tx1"/>
                </a:solidFill>
                <a:latin typeface="Times New Roman" panose="02020603050405020304" pitchFamily="18" charset="0"/>
                <a:cs typeface="Times New Roman" panose="02020603050405020304" pitchFamily="18" charset="0"/>
              </a:rPr>
              <a:t>OBJECTIVE</a:t>
            </a:r>
          </a:p>
        </p:txBody>
      </p:sp>
      <p:sp>
        <p:nvSpPr>
          <p:cNvPr id="5" name="Rectangle 4">
            <a:extLst>
              <a:ext uri="{FF2B5EF4-FFF2-40B4-BE49-F238E27FC236}">
                <a16:creationId xmlns:a16="http://schemas.microsoft.com/office/drawing/2014/main" id="{2C3812B7-BACB-0958-EB0E-F7B061D9C39E}"/>
              </a:ext>
            </a:extLst>
          </p:cNvPr>
          <p:cNvSpPr/>
          <p:nvPr/>
        </p:nvSpPr>
        <p:spPr>
          <a:xfrm>
            <a:off x="0" y="0"/>
            <a:ext cx="727587" cy="6858000"/>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SG"/>
          </a:p>
        </p:txBody>
      </p:sp>
      <p:sp>
        <p:nvSpPr>
          <p:cNvPr id="6" name="Content Placeholder 5">
            <a:extLst>
              <a:ext uri="{FF2B5EF4-FFF2-40B4-BE49-F238E27FC236}">
                <a16:creationId xmlns:a16="http://schemas.microsoft.com/office/drawing/2014/main" id="{5928F3E9-8074-8B36-F719-574AADDEC231}"/>
              </a:ext>
            </a:extLst>
          </p:cNvPr>
          <p:cNvSpPr>
            <a:spLocks noGrp="1"/>
          </p:cNvSpPr>
          <p:nvPr>
            <p:ph idx="1"/>
          </p:nvPr>
        </p:nvSpPr>
        <p:spPr>
          <a:xfrm>
            <a:off x="1268803" y="1814590"/>
            <a:ext cx="10313894" cy="4491598"/>
          </a:xfrm>
        </p:spPr>
        <p:txBody>
          <a:bodyPr/>
          <a:lstStyle/>
          <a:p>
            <a:r>
              <a:rPr lang="en-GB" sz="3200" dirty="0">
                <a:latin typeface="Times New Roman" panose="02020603050405020304" pitchFamily="18" charset="0"/>
                <a:cs typeface="Times New Roman" panose="02020603050405020304" pitchFamily="18" charset="0"/>
              </a:rPr>
              <a:t>To understand the concept and importance of cloud migration for enterprise applications.
To study different cloud migration strategies such as Rehost, Replatform, and Refactor.
To identify the benefits and challenges of migrating enterprise applications to the cloud</a:t>
            </a:r>
            <a:r>
              <a:rPr lang="en-GB"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7190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3B9CD-F338-3DB9-7BF3-CD159A1FF569}"/>
              </a:ext>
            </a:extLst>
          </p:cNvPr>
          <p:cNvSpPr>
            <a:spLocks noGrp="1"/>
          </p:cNvSpPr>
          <p:nvPr>
            <p:ph type="title"/>
          </p:nvPr>
        </p:nvSpPr>
        <p:spPr>
          <a:xfrm>
            <a:off x="727587" y="895815"/>
            <a:ext cx="10515600" cy="1325563"/>
          </a:xfrm>
        </p:spPr>
        <p:txBody>
          <a:bodyPr/>
          <a:lstStyle/>
          <a:p>
            <a:r>
              <a:rPr lang="en-IN" b="1" dirty="0">
                <a:solidFill>
                  <a:schemeClr val="tx1"/>
                </a:solidFill>
                <a:latin typeface="Times New Roman" panose="02020603050405020304" pitchFamily="18" charset="0"/>
                <a:cs typeface="Times New Roman" panose="02020603050405020304" pitchFamily="18" charset="0"/>
              </a:rPr>
              <a:t>PROBLEM STATEMENT</a:t>
            </a:r>
          </a:p>
        </p:txBody>
      </p:sp>
      <p:sp>
        <p:nvSpPr>
          <p:cNvPr id="4" name="Rectangle 3">
            <a:extLst>
              <a:ext uri="{FF2B5EF4-FFF2-40B4-BE49-F238E27FC236}">
                <a16:creationId xmlns:a16="http://schemas.microsoft.com/office/drawing/2014/main" id="{377C32AB-B5CC-1EFE-C490-3AE218FBBD06}"/>
              </a:ext>
            </a:extLst>
          </p:cNvPr>
          <p:cNvSpPr/>
          <p:nvPr/>
        </p:nvSpPr>
        <p:spPr>
          <a:xfrm>
            <a:off x="0" y="0"/>
            <a:ext cx="727587" cy="6858000"/>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SG"/>
          </a:p>
        </p:txBody>
      </p:sp>
      <p:sp>
        <p:nvSpPr>
          <p:cNvPr id="5" name="TextBox 4">
            <a:extLst>
              <a:ext uri="{FF2B5EF4-FFF2-40B4-BE49-F238E27FC236}">
                <a16:creationId xmlns:a16="http://schemas.microsoft.com/office/drawing/2014/main" id="{A5BE8F1D-B5FC-E1B9-C00B-2C0DDF61333F}"/>
              </a:ext>
            </a:extLst>
          </p:cNvPr>
          <p:cNvSpPr txBox="1"/>
          <p:nvPr/>
        </p:nvSpPr>
        <p:spPr>
          <a:xfrm>
            <a:off x="5175623" y="2516094"/>
            <a:ext cx="1828800" cy="1828800"/>
          </a:xfrm>
          <a:prstGeom prst="rect">
            <a:avLst/>
          </a:prstGeom>
          <a:noFill/>
        </p:spPr>
        <p:txBody>
          <a:bodyPr wrap="square" rtlCol="0">
            <a:spAutoFit/>
          </a:bodyPr>
          <a:lstStyle/>
          <a:p>
            <a:pPr algn="l"/>
            <a:endParaRPr lang="en-US" dirty="0"/>
          </a:p>
        </p:txBody>
      </p:sp>
      <p:sp>
        <p:nvSpPr>
          <p:cNvPr id="12" name="Content Placeholder 11">
            <a:extLst>
              <a:ext uri="{FF2B5EF4-FFF2-40B4-BE49-F238E27FC236}">
                <a16:creationId xmlns:a16="http://schemas.microsoft.com/office/drawing/2014/main" id="{9E886929-F10F-47C2-404A-97544E22BD71}"/>
              </a:ext>
            </a:extLst>
          </p:cNvPr>
          <p:cNvSpPr>
            <a:spLocks noGrp="1"/>
          </p:cNvSpPr>
          <p:nvPr>
            <p:ph idx="1"/>
          </p:nvPr>
        </p:nvSpPr>
        <p:spPr>
          <a:xfrm>
            <a:off x="1555376" y="1926662"/>
            <a:ext cx="10230224" cy="3497166"/>
          </a:xfrm>
        </p:spPr>
        <p:txBody>
          <a:bodyPr/>
          <a:lstStyle/>
          <a:p>
            <a:pPr marL="0" indent="0" algn="just">
              <a:buNone/>
            </a:pPr>
            <a:r>
              <a:rPr lang="en-GB" sz="3200" dirty="0">
                <a:latin typeface="Times New Roman" panose="02020603050405020304" pitchFamily="18" charset="0"/>
                <a:cs typeface="Times New Roman" panose="02020603050405020304" pitchFamily="18" charset="0"/>
              </a:rPr>
              <a:t>Many enterprises use traditional on-premises systems that are costly, difficult to scale, and require high maintenance. These limitations reduce flexibility and performance. Cloud migration provides a solution by moving applications to the cloud, improving scalability, security, and cost efficiency while ensuring minimal downtime and smooth business operations</a:t>
            </a:r>
            <a:r>
              <a:rPr lang="en-GB" dirty="0"/>
              <a:t>.</a:t>
            </a:r>
            <a:endParaRPr lang="en-US" dirty="0"/>
          </a:p>
        </p:txBody>
      </p:sp>
    </p:spTree>
    <p:extLst>
      <p:ext uri="{BB962C8B-B14F-4D97-AF65-F5344CB8AC3E}">
        <p14:creationId xmlns:p14="http://schemas.microsoft.com/office/powerpoint/2010/main" val="142152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ACC8E-6E21-5280-6107-C847272614AF}"/>
              </a:ext>
            </a:extLst>
          </p:cNvPr>
          <p:cNvSpPr>
            <a:spLocks noGrp="1"/>
          </p:cNvSpPr>
          <p:nvPr>
            <p:ph type="title"/>
          </p:nvPr>
        </p:nvSpPr>
        <p:spPr>
          <a:xfrm>
            <a:off x="727587" y="974725"/>
            <a:ext cx="10515600" cy="1325563"/>
          </a:xfrm>
        </p:spPr>
        <p:txBody>
          <a:bodyPr/>
          <a:lstStyle/>
          <a:p>
            <a:r>
              <a:rPr lang="en-US" b="1" dirty="0">
                <a:latin typeface="Times New Roman" panose="02020603050405020304" pitchFamily="18" charset="0"/>
                <a:cs typeface="Times New Roman" panose="02020603050405020304" pitchFamily="18" charset="0"/>
              </a:rPr>
              <a:t>MODULE 1:</a:t>
            </a:r>
            <a:r>
              <a:rPr lang="en-GB" b="1" dirty="0">
                <a:latin typeface="Times New Roman" panose="02020603050405020304" pitchFamily="18" charset="0"/>
                <a:cs typeface="Times New Roman" panose="02020603050405020304" pitchFamily="18" charset="0"/>
              </a:rPr>
              <a:t>Assessment and Migration Planning</a:t>
            </a:r>
            <a:endParaRPr lang="en-SG" b="1"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BFD23794-A47B-1683-739E-D502EB98B352}"/>
              </a:ext>
            </a:extLst>
          </p:cNvPr>
          <p:cNvSpPr/>
          <p:nvPr/>
        </p:nvSpPr>
        <p:spPr>
          <a:xfrm>
            <a:off x="0" y="0"/>
            <a:ext cx="727587" cy="6858000"/>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SG"/>
          </a:p>
        </p:txBody>
      </p:sp>
      <p:sp>
        <p:nvSpPr>
          <p:cNvPr id="6" name="Content Placeholder 5">
            <a:extLst>
              <a:ext uri="{FF2B5EF4-FFF2-40B4-BE49-F238E27FC236}">
                <a16:creationId xmlns:a16="http://schemas.microsoft.com/office/drawing/2014/main" id="{63B848A9-711C-912F-2E11-65CC455A02BB}"/>
              </a:ext>
            </a:extLst>
          </p:cNvPr>
          <p:cNvSpPr>
            <a:spLocks noGrp="1"/>
          </p:cNvSpPr>
          <p:nvPr>
            <p:ph idx="1"/>
          </p:nvPr>
        </p:nvSpPr>
        <p:spPr>
          <a:xfrm>
            <a:off x="1190041" y="2634694"/>
            <a:ext cx="10515600" cy="4351338"/>
          </a:xfrm>
        </p:spPr>
        <p:txBody>
          <a:bodyPr/>
          <a:lstStyle/>
          <a:p>
            <a:pPr algn="just"/>
            <a:r>
              <a:rPr lang="en-GB" sz="3200" dirty="0">
                <a:latin typeface="Times New Roman" panose="02020603050405020304" pitchFamily="18" charset="0"/>
                <a:cs typeface="Times New Roman" panose="02020603050405020304" pitchFamily="18" charset="0"/>
              </a:rPr>
              <a:t>Analyse existing enterprise applications and infrastructure.
Select the appropriate cloud migration strategy (Rehost, Replatform, Refactor, etc.).
Plan resources, security, and migration steps</a:t>
            </a:r>
            <a:r>
              <a:rPr lang="en-GB" dirty="0"/>
              <a:t>.</a:t>
            </a:r>
            <a:endParaRPr lang="en-US" dirty="0"/>
          </a:p>
        </p:txBody>
      </p:sp>
    </p:spTree>
    <p:extLst>
      <p:ext uri="{BB962C8B-B14F-4D97-AF65-F5344CB8AC3E}">
        <p14:creationId xmlns:p14="http://schemas.microsoft.com/office/powerpoint/2010/main" val="3381871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E08E1-E0E6-7C27-FAC3-7C85B5742016}"/>
              </a:ext>
            </a:extLst>
          </p:cNvPr>
          <p:cNvSpPr>
            <a:spLocks noGrp="1"/>
          </p:cNvSpPr>
          <p:nvPr>
            <p:ph type="title"/>
          </p:nvPr>
        </p:nvSpPr>
        <p:spPr>
          <a:xfrm>
            <a:off x="838200" y="778080"/>
            <a:ext cx="10515600" cy="1325563"/>
          </a:xfrm>
        </p:spPr>
        <p:txBody>
          <a:bodyPr/>
          <a:lstStyle/>
          <a:p>
            <a:r>
              <a:rPr lang="en-US" b="1" dirty="0">
                <a:latin typeface="Times New Roman" panose="02020603050405020304" pitchFamily="18" charset="0"/>
                <a:cs typeface="Times New Roman" panose="02020603050405020304" pitchFamily="18" charset="0"/>
              </a:rPr>
              <a:t>MODULE 2:</a:t>
            </a:r>
            <a:r>
              <a:rPr lang="en-GB" b="1" dirty="0">
                <a:latin typeface="Times New Roman" panose="02020603050405020304" pitchFamily="18" charset="0"/>
                <a:cs typeface="Times New Roman" panose="02020603050405020304" pitchFamily="18" charset="0"/>
              </a:rPr>
              <a:t>Cloud Migration and Optimization</a:t>
            </a:r>
            <a:endParaRPr lang="en-SG" b="1"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93682A67-CD60-50F9-75E7-1DF3E56BDF8D}"/>
              </a:ext>
            </a:extLst>
          </p:cNvPr>
          <p:cNvSpPr/>
          <p:nvPr/>
        </p:nvSpPr>
        <p:spPr>
          <a:xfrm>
            <a:off x="0" y="0"/>
            <a:ext cx="727587" cy="6858000"/>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SG"/>
          </a:p>
        </p:txBody>
      </p:sp>
      <p:sp>
        <p:nvSpPr>
          <p:cNvPr id="6" name="Content Placeholder 5">
            <a:extLst>
              <a:ext uri="{FF2B5EF4-FFF2-40B4-BE49-F238E27FC236}">
                <a16:creationId xmlns:a16="http://schemas.microsoft.com/office/drawing/2014/main" id="{608AF3B1-678E-AB0B-C96E-4A73A006BB0D}"/>
              </a:ext>
            </a:extLst>
          </p:cNvPr>
          <p:cNvSpPr>
            <a:spLocks noGrp="1"/>
          </p:cNvSpPr>
          <p:nvPr>
            <p:ph idx="1"/>
          </p:nvPr>
        </p:nvSpPr>
        <p:spPr>
          <a:xfrm>
            <a:off x="1676400" y="2339320"/>
            <a:ext cx="9535459" cy="3003645"/>
          </a:xfrm>
        </p:spPr>
        <p:txBody>
          <a:bodyPr>
            <a:normAutofit/>
          </a:bodyPr>
          <a:lstStyle/>
          <a:p>
            <a:pPr algn="just"/>
            <a:r>
              <a:rPr lang="en-GB" sz="3200" dirty="0">
                <a:latin typeface="Times New Roman" panose="02020603050405020304" pitchFamily="18" charset="0"/>
                <a:cs typeface="Times New Roman" panose="02020603050405020304" pitchFamily="18" charset="0"/>
              </a:rPr>
              <a:t>Migrate applications and data to the cloud.
Test performance and security after migration.
Monitor, optimize, and maintain cloud resources for better efficiency.</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83838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6A98E-A15D-BA63-A6B1-EB3A6E521C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0B1F10-D44C-3B5D-65A0-B3A5A68C76AA}"/>
              </a:ext>
            </a:extLst>
          </p:cNvPr>
          <p:cNvSpPr>
            <a:spLocks noGrp="1"/>
          </p:cNvSpPr>
          <p:nvPr>
            <p:ph type="title"/>
          </p:nvPr>
        </p:nvSpPr>
        <p:spPr>
          <a:xfrm>
            <a:off x="838200" y="668490"/>
            <a:ext cx="10515600" cy="1325563"/>
          </a:xfrm>
        </p:spPr>
        <p:txBody>
          <a:bodyPr/>
          <a:lstStyle/>
          <a:p>
            <a:r>
              <a:rPr lang="en-US" b="1" dirty="0">
                <a:latin typeface="Times New Roman" panose="02020603050405020304" pitchFamily="18" charset="0"/>
                <a:cs typeface="Times New Roman" panose="02020603050405020304" pitchFamily="18" charset="0"/>
              </a:rPr>
              <a:t>FUTURE SCOPE</a:t>
            </a:r>
            <a:endParaRPr lang="en-SG" b="1"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36038D3D-F3D7-5F00-0A2C-1CC5D9267B81}"/>
              </a:ext>
            </a:extLst>
          </p:cNvPr>
          <p:cNvSpPr/>
          <p:nvPr/>
        </p:nvSpPr>
        <p:spPr>
          <a:xfrm>
            <a:off x="0" y="0"/>
            <a:ext cx="727587" cy="6858000"/>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SG"/>
          </a:p>
        </p:txBody>
      </p:sp>
      <p:sp>
        <p:nvSpPr>
          <p:cNvPr id="6" name="Content Placeholder 5">
            <a:extLst>
              <a:ext uri="{FF2B5EF4-FFF2-40B4-BE49-F238E27FC236}">
                <a16:creationId xmlns:a16="http://schemas.microsoft.com/office/drawing/2014/main" id="{E0ECD427-D1DB-C58A-E2B4-189233CE74BC}"/>
              </a:ext>
            </a:extLst>
          </p:cNvPr>
          <p:cNvSpPr>
            <a:spLocks noGrp="1"/>
          </p:cNvSpPr>
          <p:nvPr>
            <p:ph idx="1"/>
          </p:nvPr>
        </p:nvSpPr>
        <p:spPr/>
        <p:txBody>
          <a:bodyPr/>
          <a:lstStyle/>
          <a:p>
            <a:r>
              <a:rPr lang="en-GB" sz="3200" dirty="0">
                <a:latin typeface="Times New Roman" panose="02020603050405020304" pitchFamily="18" charset="0"/>
                <a:cs typeface="Times New Roman" panose="02020603050405020304" pitchFamily="18" charset="0"/>
              </a:rPr>
              <a:t>Integrate AI and Machine Learning for automated cloud migration and optimization.
Enhance security using Zero Trust architecture and advanced encryption.
Support multi-cloud and hybrid cloud environments for greater flexibility.
Improve performance monitoring with intelligent analytics and automation</a:t>
            </a:r>
            <a:r>
              <a:rPr lang="en-GB" dirty="0"/>
              <a:t>.</a:t>
            </a:r>
            <a:endParaRPr lang="en-US" dirty="0"/>
          </a:p>
        </p:txBody>
      </p:sp>
    </p:spTree>
    <p:extLst>
      <p:ext uri="{BB962C8B-B14F-4D97-AF65-F5344CB8AC3E}">
        <p14:creationId xmlns:p14="http://schemas.microsoft.com/office/powerpoint/2010/main" val="4276843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61C85-4354-9471-505D-6A6F2A369E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DF2B8F-1840-241D-D867-84041BE59796}"/>
              </a:ext>
            </a:extLst>
          </p:cNvPr>
          <p:cNvSpPr>
            <a:spLocks noGrp="1"/>
          </p:cNvSpPr>
          <p:nvPr>
            <p:ph type="title"/>
          </p:nvPr>
        </p:nvSpPr>
        <p:spPr>
          <a:xfrm>
            <a:off x="838200" y="1002787"/>
            <a:ext cx="10515600" cy="1325563"/>
          </a:xfrm>
        </p:spPr>
        <p:txBody>
          <a:bodyPr/>
          <a:lstStyle/>
          <a:p>
            <a:r>
              <a:rPr lang="en-SG" b="1" dirty="0"/>
              <a:t>Conclusion :</a:t>
            </a:r>
            <a:br>
              <a:rPr lang="en-SG" b="1" dirty="0"/>
            </a:br>
            <a:endParaRPr lang="en-SG" b="1"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6EF6B6E2-E660-D4C4-07A2-390CB983706B}"/>
              </a:ext>
            </a:extLst>
          </p:cNvPr>
          <p:cNvSpPr/>
          <p:nvPr/>
        </p:nvSpPr>
        <p:spPr>
          <a:xfrm>
            <a:off x="0" y="0"/>
            <a:ext cx="727587" cy="6858000"/>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SG"/>
          </a:p>
        </p:txBody>
      </p:sp>
      <p:sp>
        <p:nvSpPr>
          <p:cNvPr id="6" name="Content Placeholder 5">
            <a:extLst>
              <a:ext uri="{FF2B5EF4-FFF2-40B4-BE49-F238E27FC236}">
                <a16:creationId xmlns:a16="http://schemas.microsoft.com/office/drawing/2014/main" id="{71565AD2-AB25-F2DF-DCA4-8BBD19682164}"/>
              </a:ext>
            </a:extLst>
          </p:cNvPr>
          <p:cNvSpPr>
            <a:spLocks noGrp="1"/>
          </p:cNvSpPr>
          <p:nvPr>
            <p:ph idx="1"/>
          </p:nvPr>
        </p:nvSpPr>
        <p:spPr/>
        <p:txBody>
          <a:bodyPr/>
          <a:lstStyle/>
          <a:p>
            <a:pPr marL="0" indent="0" algn="just">
              <a:buNone/>
            </a:pPr>
            <a:r>
              <a:rPr lang="en-GB" sz="3200" dirty="0">
                <a:latin typeface="Times New Roman" panose="02020603050405020304" pitchFamily="18" charset="0"/>
                <a:cs typeface="Times New Roman" panose="02020603050405020304" pitchFamily="18" charset="0"/>
              </a:rPr>
              <a:t>Cloud migration enables enterprises to modernize their IT infrastructure by improving scalability, flexibility, and cost efficiency. Selecting the right migration strategy helps reduce risks, minimize downtime, and ensure secure application migration. As cloud technologies continue to evolve, organizations can achieve better performance, reliability, and business growth</a:t>
            </a:r>
            <a:r>
              <a:rPr lang="en-GB" dirty="0"/>
              <a:t>.</a:t>
            </a:r>
            <a:endParaRPr lang="en-US" dirty="0"/>
          </a:p>
        </p:txBody>
      </p:sp>
    </p:spTree>
    <p:extLst>
      <p:ext uri="{BB962C8B-B14F-4D97-AF65-F5344CB8AC3E}">
        <p14:creationId xmlns:p14="http://schemas.microsoft.com/office/powerpoint/2010/main" val="13822009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DD768-3023-809F-5FB8-0B27B5BA50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E1EF0C-F8F2-A9FC-AB68-EC044F96CEC8}"/>
              </a:ext>
            </a:extLst>
          </p:cNvPr>
          <p:cNvSpPr>
            <a:spLocks noGrp="1"/>
          </p:cNvSpPr>
          <p:nvPr>
            <p:ph type="title"/>
          </p:nvPr>
        </p:nvSpPr>
        <p:spPr>
          <a:xfrm>
            <a:off x="838200" y="668490"/>
            <a:ext cx="10515600" cy="1325563"/>
          </a:xfrm>
        </p:spPr>
        <p:txBody>
          <a:bodyPr/>
          <a:lstStyle/>
          <a:p>
            <a:r>
              <a:rPr lang="en-US" b="1" dirty="0">
                <a:latin typeface="Times New Roman" panose="02020603050405020304" pitchFamily="18" charset="0"/>
                <a:cs typeface="Times New Roman" panose="02020603050405020304" pitchFamily="18" charset="0"/>
              </a:rPr>
              <a:t>REFERENCES:</a:t>
            </a:r>
            <a:endParaRPr lang="en-SG" b="1"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1BF7F648-3F3B-DA4A-AC3E-057BCB89233A}"/>
              </a:ext>
            </a:extLst>
          </p:cNvPr>
          <p:cNvSpPr/>
          <p:nvPr/>
        </p:nvSpPr>
        <p:spPr>
          <a:xfrm>
            <a:off x="0" y="0"/>
            <a:ext cx="727587" cy="6858000"/>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SG"/>
          </a:p>
        </p:txBody>
      </p:sp>
      <p:sp>
        <p:nvSpPr>
          <p:cNvPr id="6" name="Content Placeholder 5">
            <a:extLst>
              <a:ext uri="{FF2B5EF4-FFF2-40B4-BE49-F238E27FC236}">
                <a16:creationId xmlns:a16="http://schemas.microsoft.com/office/drawing/2014/main" id="{7ACCE24E-DEE2-064A-25E7-86C9082400F6}"/>
              </a:ext>
            </a:extLst>
          </p:cNvPr>
          <p:cNvSpPr>
            <a:spLocks noGrp="1"/>
          </p:cNvSpPr>
          <p:nvPr>
            <p:ph idx="1"/>
          </p:nvPr>
        </p:nvSpPr>
        <p:spPr/>
        <p:txBody>
          <a:bodyPr>
            <a:normAutofit/>
          </a:bodyPr>
          <a:lstStyle/>
          <a:p>
            <a:r>
              <a:rPr lang="en-GB" sz="3200" dirty="0">
                <a:latin typeface="Times New Roman" panose="02020603050405020304" pitchFamily="18" charset="0"/>
                <a:cs typeface="Times New Roman" panose="02020603050405020304" pitchFamily="18" charset="0"/>
              </a:rPr>
              <a:t>Amazon Web Services (AWS). AWS Cloud Migration Guide, 2023.
Microsoft. Azure Cloud Adoption Framework, 2024.
Google Cloud. Cloud Architecture Framework, 2023.
IBM. Cloud Transformation and Migration Guide, 2022.
Oracle. Oracle Cloud Infrastructure Migration Guide, 2024.</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9913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E84F6FF-EC3D-3CD5-E694-D158FDAA12A1}"/>
              </a:ext>
            </a:extLst>
          </p:cNvPr>
          <p:cNvSpPr txBox="1"/>
          <p:nvPr/>
        </p:nvSpPr>
        <p:spPr>
          <a:xfrm>
            <a:off x="2458065" y="2330245"/>
            <a:ext cx="7502013" cy="1446550"/>
          </a:xfrm>
          <a:prstGeom prst="rect">
            <a:avLst/>
          </a:prstGeom>
          <a:noFill/>
        </p:spPr>
        <p:txBody>
          <a:bodyPr wrap="square" rtlCol="0">
            <a:spAutoFit/>
          </a:bodyPr>
          <a:lstStyle/>
          <a:p>
            <a:r>
              <a:rPr lang="en-US" sz="8800" dirty="0">
                <a:latin typeface="Times New Roman" panose="02020603050405020304" pitchFamily="18" charset="0"/>
                <a:cs typeface="Times New Roman" panose="02020603050405020304" pitchFamily="18" charset="0"/>
              </a:rPr>
              <a:t>THANK YOU</a:t>
            </a:r>
            <a:endParaRPr lang="en-SG" sz="8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97523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1328</TotalTime>
  <Words>429</Words>
  <Application>Microsoft Office PowerPoint</Application>
  <PresentationFormat>Widescreen</PresentationFormat>
  <Paragraphs>25</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Times New Roman</vt:lpstr>
      <vt:lpstr>Office Theme</vt:lpstr>
      <vt:lpstr>Cloud migration strategies moving enterprise applications to the cloud</vt:lpstr>
      <vt:lpstr>ABSTRACT</vt:lpstr>
      <vt:lpstr>OBJECTIVE</vt:lpstr>
      <vt:lpstr>PROBLEM STATEMENT</vt:lpstr>
      <vt:lpstr>MODULE 1:Assessment and Migration Planning</vt:lpstr>
      <vt:lpstr>MODULE 2:Cloud Migration and Optimization</vt:lpstr>
      <vt:lpstr>FUTURE SCOPE</vt:lpstr>
      <vt:lpstr>Conclusion : </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migration strategies moving enterprise applications to the cloud</dc:title>
  <dc:creator>jenifer rathi</dc:creator>
  <cp:lastModifiedBy>jasmitha R</cp:lastModifiedBy>
  <cp:revision>14</cp:revision>
  <dcterms:created xsi:type="dcterms:W3CDTF">2026-03-13T15:49:35Z</dcterms:created>
  <dcterms:modified xsi:type="dcterms:W3CDTF">2026-07-23T03:37:32Z</dcterms:modified>
</cp:coreProperties>
</file>